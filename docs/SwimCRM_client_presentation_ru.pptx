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8"/>
  </p:notesMasterIdLst>
  <p:sldIdLst>
    <p:sldId id="394" r:id="rId2"/>
    <p:sldId id="378" r:id="rId3"/>
    <p:sldId id="314" r:id="rId4"/>
    <p:sldId id="350" r:id="rId5"/>
    <p:sldId id="376" r:id="rId6"/>
    <p:sldId id="324" r:id="rId7"/>
    <p:sldId id="395" r:id="rId25"/>
    <p:sldId id="396" r:id="rId26"/>
    <p:sldId id="397" r:id="rId27"/>
    <p:sldId id="398" r:id="rId28"/>
  </p:sldIdLst>
  <p:sldSz cx="12192000" cy="6858000"/>
  <p:notesSz cx="6858000" cy="9144000"/>
  <p:embeddedFontLst>
    <p:embeddedFont>
      <p:font typeface="Lora" pitchFamily="2" charset="77"/>
      <p:regular r:id="rId9"/>
      <p:bold r:id="rId10"/>
      <p:italic r:id="rId11"/>
      <p:boldItalic r:id="rId12"/>
    </p:embeddedFont>
    <p:embeddedFont>
      <p:font typeface="OpenAI Sans" panose="020B0004030202060203" pitchFamily="34" charset="77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709"/>
    <a:srgbClr val="FF4305"/>
    <a:srgbClr val="FF4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99"/>
    <p:restoredTop sz="94658"/>
  </p:normalViewPr>
  <p:slideViewPr>
    <p:cSldViewPr snapToGrid="0">
      <p:cViewPr>
        <p:scale>
          <a:sx n="111" d="100"/>
          <a:sy n="111" d="100"/>
        </p:scale>
        <p:origin x="816" y="296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font" Target="fonts/font11.fntdata"/><Relationship Id="rId20" Type="http://schemas.openxmlformats.org/officeDocument/2006/relationships/font" Target="fonts/font12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14D2-2802-9381-3FF9-B1BDC227F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838E4-A3D7-443C-4771-74618E3C9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27993-9BBE-6B01-9733-AB1FA9039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EA6BD-8166-9F1E-E1F9-3EC85E4DC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13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CFF8FD1-F32C-FBBD-584A-C36FE0DF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C2432F26-92DC-62C8-ED09-AB1B1F5F5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E256758-F923-3503-0236-6FA20A85D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701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A2160B53-C94F-F324-57D4-92A3DDB7F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A8C3294-CEB6-98B4-66A8-33CF6430BB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C211CB72-9E4F-9726-D62D-FFD7A145B1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309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BC14113F-029B-FB33-F177-B2B418A1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CF3E01E-64AE-4922-C4A9-4D2F8BFA63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DD457944-AF00-713C-09E0-2B2ECB0FC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170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F89ECF8-8824-6720-A5F2-1B2A6FD2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4658B80-89F4-F5BF-B95D-D621BFBA5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EF2BB7B-24EA-6804-B96F-C5BDDD00B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213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4833CCCF-3F9D-A618-80AB-3D4A5A75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0FEAD63-73E6-6865-0563-39C87E4A2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AD55573-DB52-73E0-765A-E60EFC902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3552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F939-D34A-71EB-689B-60A3AE9D2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079" y="2031642"/>
            <a:ext cx="11063842" cy="2491490"/>
          </a:xfrm>
        </p:spPr>
        <p:txBody>
          <a:bodyPr anchor="ctr">
            <a:noAutofit/>
          </a:bodyPr>
          <a:lstStyle/>
          <a:p>
            <a:r>
              <a:rPr sz="4200" b="1">
                <a:solidFill>
                  <a:srgbClr val="1A2A36"/>
                </a:solidFill>
                <a:latin typeface="Aptos"/>
              </a:rPr>
              <a:t>SwimCRM для школы плавания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8999" y="5045149"/>
            <a:ext cx="7394002" cy="794439"/>
          </a:xfrm>
        </p:spPr>
        <p:txBody>
          <a:bodyPr>
            <a:normAutofit/>
          </a:bodyPr>
          <a:lstStyle/>
          <a:p>
            <a:r>
              <a:rPr sz="1800" b="0">
                <a:solidFill>
                  <a:srgbClr val="3A4956"/>
                </a:solidFill>
                <a:latin typeface="Aptos"/>
              </a:rPr>
              <a:t>Операционная CRM, которая связывает расписание, абонементы, оплаты и коммуникацию с родителями.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 txBox="1">
            <a:spLocks/>
          </p:cNvSpPr>
          <p:nvPr/>
        </p:nvSpPr>
        <p:spPr>
          <a:xfrm>
            <a:off x="3244850" y="1352742"/>
            <a:ext cx="5702300" cy="3617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00" b="0">
                <a:solidFill>
                  <a:srgbClr val="0C6F80"/>
                </a:solidFill>
                <a:latin typeface="Aptos"/>
              </a:rPr>
              <a:t>Клиентская презентация | июль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955627D7-4531-FF60-E9C2-2F11A6392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sz="900" b="0">
                <a:solidFill>
                  <a:srgbClr val="3A4956"/>
                </a:solidFill>
                <a:latin typeface="Aptos"/>
              </a:rPr>
              <a:t>SwimCRM | client deck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Autofit/>
          </a:bodyPr>
          <a:lstStyle/>
          <a:p>
            <a:pPr algn="ctr"/>
            <a:r>
              <a:rPr sz="1600" b="1">
                <a:solidFill>
                  <a:srgbClr val="0C6F80"/>
                </a:solidFill>
                <a:latin typeface="Aptos"/>
              </a:rPr>
              <a:t>2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0202" y="1553822"/>
            <a:ext cx="9031596" cy="1262107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r>
              <a:rPr sz="3200" b="1">
                <a:solidFill>
                  <a:srgbClr val="1A2A36"/>
                </a:solidFill>
                <a:latin typeface="Aptos"/>
              </a:rPr>
              <a:t>О проекте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2147257" y="3329711"/>
            <a:ext cx="7897486" cy="2616365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sz="1700" b="0">
                <a:solidFill>
                  <a:srgbClr val="3A4956"/>
                </a:solidFill>
                <a:latin typeface="Aptos"/>
              </a:rPr>
              <a:t>SwimCRM — веб-система для частной школы плавания. Она помогает администрации вести клиентов, группы, тренеров, расписание, посещаемость, абонементы и оплаты в одном месте.</a:t>
            </a:r>
          </a:p>
          <a:p/>
          <a:p>
            <a:r>
              <a:rPr sz="1700" b="0">
                <a:solidFill>
                  <a:srgbClr val="3A4956"/>
                </a:solidFill>
                <a:latin typeface="Aptos"/>
              </a:rPr>
              <a:t>Основные пользователи: администратор, тренер и родитель/клиент. Проблема, которую решает продукт: меньше ручного учета в таблицах, меньше ошибок в оплатах и прозрачная история по каждому участнику.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 txBox="1">
            <a:spLocks/>
          </p:cNvSpPr>
          <p:nvPr/>
        </p:nvSpPr>
        <p:spPr>
          <a:xfrm>
            <a:off x="3244850" y="1001877"/>
            <a:ext cx="5702300" cy="3617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>
                <a:solidFill>
                  <a:srgbClr val="0C6F80"/>
                </a:solidFill>
                <a:latin typeface="Aptos"/>
              </a:rPr>
              <a:t>Product positioning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0E7F48D-6160-4C7B-F1E4-6DA13560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sz="900" b="0">
                <a:solidFill>
                  <a:srgbClr val="3A4956"/>
                </a:solidFill>
                <a:latin typeface="Aptos"/>
              </a:rPr>
              <a:t>SwimCRM | client deck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Autofit/>
          </a:bodyPr>
          <a:lstStyle/>
          <a:p>
            <a:pPr algn="ctr"/>
            <a:r>
              <a:rPr sz="1600" b="1">
                <a:solidFill>
                  <a:srgbClr val="0C6F80"/>
                </a:solidFill>
                <a:latin typeface="Aptos"/>
              </a:rPr>
              <a:t>3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531203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sz="3000" b="1">
                <a:solidFill>
                  <a:srgbClr val="1A2A36"/>
                </a:solidFill>
                <a:latin typeface="Aptos"/>
              </a:rPr>
              <a:t>Ключевые возможности сейчас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 txBox="1">
            <a:spLocks/>
          </p:cNvSpPr>
          <p:nvPr/>
        </p:nvSpPr>
        <p:spPr>
          <a:xfrm>
            <a:off x="393700" y="1150259"/>
            <a:ext cx="6308042" cy="139700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500" b="0">
                <a:solidFill>
                  <a:srgbClr val="3A4956"/>
                </a:solidFill>
                <a:latin typeface="Aptos"/>
              </a:rPr>
              <a:t>Система уже закрывает основные ежедневные процессы школы: от записи клиента до контроля оплат и отчетности.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 txBox="1">
            <a:spLocks/>
          </p:cNvSpPr>
          <p:nvPr/>
        </p:nvSpPr>
        <p:spPr>
          <a:xfrm>
            <a:off x="460256" y="3933441"/>
            <a:ext cx="2653334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700" b="1">
                <a:solidFill>
                  <a:srgbClr val="0C6F80"/>
                </a:solidFill>
                <a:latin typeface="Aptos"/>
              </a:rPr>
              <a:t>01</a:t>
            </a:r>
          </a:p>
        </p:txBody>
      </p:sp>
      <p:sp>
        <p:nvSpPr>
          <p:cNvPr id="12" name="Content Placeholder 15">
            <a:extLst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 txBox="1">
            <a:spLocks/>
          </p:cNvSpPr>
          <p:nvPr/>
        </p:nvSpPr>
        <p:spPr>
          <a:xfrm>
            <a:off x="460256" y="4975635"/>
            <a:ext cx="2653334" cy="903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0">
                <a:solidFill>
                  <a:srgbClr val="3A4956"/>
                </a:solidFill>
                <a:latin typeface="Aptos"/>
              </a:rPr>
              <a:t>Основной функционал: клиенты и семьи, группы, тренеры, расписание, посещаемость, абонементы, начисления и платежи.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 txBox="1">
            <a:spLocks/>
          </p:cNvSpPr>
          <p:nvPr/>
        </p:nvSpPr>
        <p:spPr>
          <a:xfrm>
            <a:off x="4106280" y="3933441"/>
            <a:ext cx="2653334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700" b="1">
                <a:solidFill>
                  <a:srgbClr val="0C6F80"/>
                </a:solidFill>
                <a:latin typeface="Aptos"/>
              </a:rPr>
              <a:t>02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 txBox="1">
            <a:spLocks/>
          </p:cNvSpPr>
          <p:nvPr/>
        </p:nvSpPr>
        <p:spPr>
          <a:xfrm>
            <a:off x="4106280" y="4975635"/>
            <a:ext cx="2653334" cy="903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0">
                <a:solidFill>
                  <a:srgbClr val="3A4956"/>
                </a:solidFill>
                <a:latin typeface="Aptos"/>
              </a:rPr>
              <a:t>Автоматизация: списание занятий по статусам, контроль конфликтов тренера, отчеты, импорт/экспорт, планировщик уведомлений.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 txBox="1">
            <a:spLocks/>
          </p:cNvSpPr>
          <p:nvPr/>
        </p:nvSpPr>
        <p:spPr>
          <a:xfrm>
            <a:off x="7752304" y="3933441"/>
            <a:ext cx="2653334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700" b="1">
                <a:solidFill>
                  <a:srgbClr val="0C6F80"/>
                </a:solidFill>
                <a:latin typeface="Aptos"/>
              </a:rPr>
              <a:t>03</a:t>
            </a:r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 txBox="1">
            <a:spLocks/>
          </p:cNvSpPr>
          <p:nvPr/>
        </p:nvSpPr>
        <p:spPr>
          <a:xfrm>
            <a:off x="7752304" y="4975635"/>
            <a:ext cx="2653334" cy="9037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0">
                <a:solidFill>
                  <a:srgbClr val="3A4956"/>
                </a:solidFill>
                <a:latin typeface="Aptos"/>
              </a:rPr>
              <a:t>Интерфейс: React SPA для админа, клиентский и тренерский контуры, адаптивная верстка и единая дизайн-система.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9B0323E1-B478-9FE3-B5ED-6819FF00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sz="900" b="0">
                <a:solidFill>
                  <a:srgbClr val="3A4956"/>
                </a:solidFill>
                <a:latin typeface="Aptos"/>
              </a:rPr>
              <a:t>SwimCRM | client deck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Autofit/>
          </a:bodyPr>
          <a:lstStyle/>
          <a:p>
            <a:pPr algn="ctr"/>
            <a:r>
              <a:rPr sz="1600" b="1">
                <a:solidFill>
                  <a:srgbClr val="0C6F80"/>
                </a:solidFill>
                <a:latin typeface="Aptos"/>
              </a:rPr>
              <a:t>4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55372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sz="3000" b="1">
                <a:solidFill>
                  <a:srgbClr val="1A2A36"/>
                </a:solidFill>
                <a:latin typeface="Aptos"/>
              </a:rPr>
              <a:t>Как это работает</a:t>
            </a:r>
          </a:p>
        </p:txBody>
      </p:sp>
      <p:pic>
        <p:nvPicPr>
          <p:cNvPr id="4" name="Picture 3" descr="Replace with image.">
            <a:extLst>
              <a:ext uri="{FF2B5EF4-FFF2-40B4-BE49-F238E27FC236}">
                <a16:creationId xmlns:a16="http://schemas.microsoft.com/office/drawing/2014/main" id="{151807BD-12E8-1C71-568D-447C013D1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8" t="29168" b="23013"/>
          <a:stretch>
            <a:fillRect/>
          </a:stretch>
        </p:blipFill>
        <p:spPr>
          <a:xfrm>
            <a:off x="6269040" y="396409"/>
            <a:ext cx="5539740" cy="5602070"/>
          </a:xfrm>
          <a:prstGeom prst="roundRect">
            <a:avLst>
              <a:gd name="adj" fmla="val 1361"/>
            </a:avLst>
          </a:prstGeom>
        </p:spPr>
      </p:pic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 txBox="1">
            <a:spLocks/>
          </p:cNvSpPr>
          <p:nvPr/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700" b="1">
                <a:solidFill>
                  <a:srgbClr val="0C6F80"/>
                </a:solidFill>
                <a:latin typeface="Aptos"/>
              </a:rPr>
              <a:t>Flow от первого контакта до регулярного управления клиентом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 txBox="1"/>
          <p:nvPr/>
        </p:nvSpPr>
        <p:spPr>
          <a:xfrm>
            <a:off x="393700" y="2918564"/>
            <a:ext cx="5537200" cy="29234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>
                <a:solidFill>
                  <a:srgbClr val="3A4956"/>
                </a:solidFill>
                <a:latin typeface="Aptos"/>
              </a:rPr>
              <a:t>1. Администратор создает клиента или семейный аккаунт.</a:t>
            </a:r>
          </a:p>
          <a:p>
            <a:r>
              <a:rPr sz="1600" b="0">
                <a:solidFill>
                  <a:srgbClr val="3A4956"/>
                </a:solidFill>
                <a:latin typeface="Aptos"/>
              </a:rPr>
              <a:t>2. Назначает участника в группу и выпускает абонемент.</a:t>
            </a:r>
          </a:p>
          <a:p>
            <a:r>
              <a:rPr sz="1600" b="0">
                <a:solidFill>
                  <a:srgbClr val="3A4956"/>
                </a:solidFill>
                <a:latin typeface="Aptos"/>
              </a:rPr>
              <a:t>3. Система создает начисление и фиксирует оплату или чек.</a:t>
            </a:r>
          </a:p>
          <a:p>
            <a:r>
              <a:rPr sz="1600" b="0">
                <a:solidFill>
                  <a:srgbClr val="3A4956"/>
                </a:solidFill>
                <a:latin typeface="Aptos"/>
              </a:rPr>
              <a:t>4. Тренер отмечает посещаемость после занятия.</a:t>
            </a:r>
          </a:p>
          <a:p>
            <a:r>
              <a:rPr sz="1600" b="0">
                <a:solidFill>
                  <a:srgbClr val="3A4956"/>
                </a:solidFill>
                <a:latin typeface="Aptos"/>
              </a:rPr>
              <a:t>5. CRM обновляет остаток занятий, задолженности и напоминания.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0CDD53-1B07-DB60-0CAA-C14CF077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 sz="900" b="0">
                <a:solidFill>
                  <a:srgbClr val="3A4956"/>
                </a:solidFill>
                <a:latin typeface="Aptos"/>
              </a:rPr>
              <a:t>SwimCRM | client deck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ctr"/>
            <a:r>
              <a:rPr sz="1600" b="1">
                <a:solidFill>
                  <a:srgbClr val="0C6F80"/>
                </a:solidFill>
                <a:latin typeface="Aptos"/>
              </a:rPr>
              <a:t>5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sz="3000" b="1">
                <a:solidFill>
                  <a:srgbClr val="1A2A36"/>
                </a:solidFill>
                <a:latin typeface="Aptos"/>
              </a:rPr>
              <a:t>Примеры использования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sz="1400" b="0">
                <a:solidFill>
                  <a:srgbClr val="3A4956"/>
                </a:solidFill>
                <a:latin typeface="Aptos"/>
              </a:rPr>
              <a:t>Продажа абонемента</a:t>
            </a:r>
          </a:p>
          <a:p>
            <a:r>
              <a:rPr sz="1400" b="0">
                <a:solidFill>
                  <a:srgbClr val="3A4956"/>
                </a:solidFill>
                <a:latin typeface="Aptos"/>
              </a:rPr>
              <a:t>Админ создает абонемент, начисление и платеж. Клиент сразу видит актуальный статус.</a:t>
            </a: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 txBox="1">
            <a:spLocks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0">
                <a:solidFill>
                  <a:srgbClr val="3A4956"/>
                </a:solidFill>
                <a:latin typeface="Aptos"/>
              </a:rPr>
              <a:t>Контроль посещаемости</a:t>
            </a:r>
          </a:p>
          <a:p>
            <a:r>
              <a:rPr sz="1400" b="0">
                <a:solidFill>
                  <a:srgbClr val="3A4956"/>
                </a:solidFill>
                <a:latin typeface="Aptos"/>
              </a:rPr>
              <a:t>Тренер отмечает занятие, CRM сама списывает или не списывает занятие по бизнес-правилам.</a:t>
            </a:r>
          </a:p>
        </p:txBody>
      </p:sp>
      <p:sp>
        <p:nvSpPr>
          <p:cNvPr id="3" name="Google Shape;340;p61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/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r>
              <a:rPr sz="1400" b="0">
                <a:solidFill>
                  <a:srgbClr val="3A4956"/>
                </a:solidFill>
                <a:latin typeface="Aptos"/>
              </a:rPr>
              <a:t>Работа с долгами</a:t>
            </a:r>
          </a:p>
          <a:p>
            <a:r>
              <a:rPr sz="1400" b="0">
                <a:solidFill>
                  <a:srgbClr val="3A4956"/>
                </a:solidFill>
                <a:latin typeface="Aptos"/>
              </a:rPr>
              <a:t>Админ видит просрочки, клиентов с малым остатком занятий и может запускать напоминания.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 txBox="1"/>
          <p:nvPr/>
        </p:nvSpPr>
        <p:spPr>
          <a:xfrm>
            <a:off x="393700" y="2918564"/>
            <a:ext cx="5537200" cy="29234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>
                <a:solidFill>
                  <a:srgbClr val="3A4956"/>
                </a:solidFill>
                <a:latin typeface="Aptos"/>
              </a:rPr>
              <a:t>Отчетность</a:t>
            </a:r>
          </a:p>
          <a:p>
            <a:r>
              <a:rPr sz="1400" b="0">
                <a:solidFill>
                  <a:srgbClr val="3A4956"/>
                </a:solidFill>
                <a:latin typeface="Aptos"/>
              </a:rPr>
              <a:t>Руководитель получает доходы, посещаемость и неоплаченные счета без ручной сборки таблиц.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 txBox="1">
            <a:spLocks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7" name="Google Shape;340;p61">
            <a:extLst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/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 txBox="1">
            <a:spLocks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19" name="Google Shape;340;p61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/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 txBox="1">
            <a:spLocks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1" name="Google Shape;340;p6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/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 txBox="1">
            <a:spLocks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id="24" name="Google Shape;340;p61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/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7BF6385B-F2B3-709D-00BC-0FED7171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 sz="900" b="0">
                <a:solidFill>
                  <a:srgbClr val="3A4956"/>
                </a:solidFill>
                <a:latin typeface="Aptos"/>
              </a:rPr>
              <a:t>SwimCRM | client deck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ctr"/>
            <a:r>
              <a:rPr sz="1600" b="1">
                <a:solidFill>
                  <a:srgbClr val="0C6F80"/>
                </a:solidFill>
                <a:latin typeface="Aptos"/>
              </a:rPr>
              <a:t>6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sz="3000" b="1">
                <a:solidFill>
                  <a:srgbClr val="1A2A36"/>
                </a:solidFill>
                <a:latin typeface="Aptos"/>
              </a:rPr>
              <a:t>Ограничения — честно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sz="1400" b="0">
                <a:solidFill>
                  <a:srgbClr val="3A4956"/>
                </a:solidFill>
                <a:latin typeface="Aptos"/>
              </a:rPr>
              <a:t>Онлайн-оплата пока не подключена. Сейчас платежи вводятся администратором или подтверждаются по загруженному чеку.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rmAutofit/>
          </a:bodyPr>
          <a:lstStyle/>
          <a:p>
            <a:r>
              <a:rPr sz="1400" b="0">
                <a:solidFill>
                  <a:srgbClr val="3A4956"/>
                </a:solidFill>
                <a:latin typeface="Aptos"/>
              </a:rPr>
              <a:t>Telegram и SMS имеют рабочие интерфейсы/заглушки; для боевого запуска нужны провайдеры, токены и тестирование доставки.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rmAutofit/>
          </a:bodyPr>
          <a:lstStyle/>
          <a:p>
            <a:r>
              <a:rPr sz="1400" b="0">
                <a:solidFill>
                  <a:srgbClr val="3A4956"/>
                </a:solidFill>
                <a:latin typeface="Aptos"/>
              </a:rPr>
              <a:t>Планировщик уведомлений готов как команда, но в production его нужно поставить в Celery beat или cron.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 txBox="1">
            <a:spLocks/>
          </p:cNvSpPr>
          <p:nvPr/>
        </p:nvSpPr>
        <p:spPr>
          <a:xfrm>
            <a:off x="393700" y="1150259"/>
            <a:ext cx="6308042" cy="139700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0">
                <a:solidFill>
                  <a:srgbClr val="3A4956"/>
                </a:solidFill>
                <a:latin typeface="Aptos"/>
              </a:rPr>
              <a:t>PostgreSQL-релиз требует отдельной проверки backup/restore и реальных production env-переменных.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 sz="900" b="0">
                <a:solidFill>
                  <a:srgbClr val="3A4956"/>
                </a:solidFill>
                <a:latin typeface="Aptos"/>
              </a:rPr>
              <a:t>SwimCRM | client deck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ctr"/>
            <a:r>
              <a:rPr sz="1600" b="1">
                <a:solidFill>
                  <a:srgbClr val="0C6F80"/>
                </a:solidFill>
                <a:latin typeface="Aptos"/>
              </a:rPr>
              <a:t>7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sz="3000" b="1">
                <a:solidFill>
                  <a:srgbClr val="1A2A36"/>
                </a:solidFill>
                <a:latin typeface="Aptos"/>
              </a:rPr>
              <a:t>Что можно улучшить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sz="1400" b="0">
                <a:solidFill>
                  <a:srgbClr val="3A4956"/>
                </a:solidFill>
                <a:latin typeface="Aptos"/>
              </a:rPr>
              <a:t>UX</a:t>
            </a:r>
          </a:p>
          <a:p>
            <a:r>
              <a:rPr sz="1400" b="0">
                <a:solidFill>
                  <a:srgbClr val="3A4956"/>
                </a:solidFill>
                <a:latin typeface="Aptos"/>
              </a:rPr>
              <a:t>Упростить массовые действия в админке, добавить быстрые фильтры по группам, статусам оплат и остаткам занятий.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rmAutofit/>
          </a:bodyPr>
          <a:lstStyle/>
          <a:p>
            <a:r>
              <a:rPr sz="1400" b="0">
                <a:solidFill>
                  <a:srgbClr val="3A4956"/>
                </a:solidFill>
                <a:latin typeface="Aptos"/>
              </a:rPr>
              <a:t>Функционал</a:t>
            </a:r>
          </a:p>
          <a:p>
            <a:r>
              <a:rPr sz="1400" b="0">
                <a:solidFill>
                  <a:srgbClr val="3A4956"/>
                </a:solidFill>
                <a:latin typeface="Aptos"/>
              </a:rPr>
              <a:t>Подключить боевой Telegram/SMS, массовые рассылки, админ-экшены для импортов и отчетов.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rmAutofit/>
          </a:bodyPr>
          <a:lstStyle/>
          <a:p>
            <a:r>
              <a:rPr sz="1400" b="0">
                <a:solidFill>
                  <a:srgbClr val="3A4956"/>
                </a:solidFill>
                <a:latin typeface="Aptos"/>
              </a:rPr>
              <a:t>Автоматизация</a:t>
            </a:r>
          </a:p>
          <a:p>
            <a:r>
              <a:rPr sz="1400" b="0">
                <a:solidFill>
                  <a:srgbClr val="3A4956"/>
                </a:solidFill>
                <a:latin typeface="Aptos"/>
              </a:rPr>
              <a:t>Настроить Celery/Redis, регулярные backup/restore проверки, мониторинг ошибок уведомлений.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 txBox="1">
            <a:spLocks/>
          </p:cNvSpPr>
          <p:nvPr/>
        </p:nvSpPr>
        <p:spPr>
          <a:xfrm>
            <a:off x="393700" y="1150259"/>
            <a:ext cx="6308042" cy="139700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0">
                <a:solidFill>
                  <a:srgbClr val="3A4956"/>
                </a:solidFill>
                <a:latin typeface="Aptos"/>
              </a:rPr>
              <a:t>Коммерция</a:t>
            </a:r>
          </a:p>
          <a:p>
            <a:r>
              <a:rPr sz="1400" b="0">
                <a:solidFill>
                  <a:srgbClr val="3A4956"/>
                </a:solidFill>
                <a:latin typeface="Aptos"/>
              </a:rPr>
              <a:t>Добавить онлайн-оплаты и автоматическое сопоставление платежей, когда бизнес будет готов.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 sz="900" b="0">
                <a:solidFill>
                  <a:srgbClr val="3A4956"/>
                </a:solidFill>
                <a:latin typeface="Aptos"/>
              </a:rPr>
              <a:t>SwimCRM | client deck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ctr"/>
            <a:r>
              <a:rPr sz="1600" b="1">
                <a:solidFill>
                  <a:srgbClr val="0C6F80"/>
                </a:solidFill>
                <a:latin typeface="Aptos"/>
              </a:rPr>
              <a:t>8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sz="3000" b="1">
                <a:solidFill>
                  <a:srgbClr val="1A2A36"/>
                </a:solidFill>
                <a:latin typeface="Aptos"/>
              </a:rPr>
              <a:t>Roadmap развития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sz="1400" b="0">
                <a:solidFill>
                  <a:srgbClr val="3A4956"/>
                </a:solidFill>
                <a:latin typeface="Aptos"/>
              </a:rPr>
              <a:t>Quick wins</a:t>
            </a:r>
          </a:p>
          <a:p>
            <a:r>
              <a:rPr sz="1400" b="0">
                <a:solidFill>
                  <a:srgbClr val="3A4956"/>
                </a:solidFill>
                <a:latin typeface="Aptos"/>
              </a:rPr>
              <a:t>Запустить production env-check, настроить регулярный планировщик, включить админские действия для отчетов.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rmAutofit/>
          </a:bodyPr>
          <a:lstStyle/>
          <a:p>
            <a:r>
              <a:rPr sz="1400" b="0">
                <a:solidFill>
                  <a:srgbClr val="3A4956"/>
                </a:solidFill>
                <a:latin typeface="Aptos"/>
              </a:rPr>
              <a:t>Среднесрочно</a:t>
            </a:r>
          </a:p>
          <a:p>
            <a:r>
              <a:rPr sz="1400" b="0">
                <a:solidFill>
                  <a:srgbClr val="3A4956"/>
                </a:solidFill>
                <a:latin typeface="Aptos"/>
              </a:rPr>
              <a:t>Боевой Telegram/SMS, массовые рассылки, расширенные UX-сценарии для администратора и тренера.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rmAutofit/>
          </a:bodyPr>
          <a:lstStyle/>
          <a:p>
            <a:r>
              <a:rPr sz="1400" b="0">
                <a:solidFill>
                  <a:srgbClr val="3A4956"/>
                </a:solidFill>
                <a:latin typeface="Aptos"/>
              </a:rPr>
              <a:t>Продвинутые функции</a:t>
            </a:r>
          </a:p>
          <a:p>
            <a:r>
              <a:rPr sz="1400" b="0">
                <a:solidFill>
                  <a:srgbClr val="3A4956"/>
                </a:solidFill>
                <a:latin typeface="Aptos"/>
              </a:rPr>
              <a:t>Онлайн-оплата, автоматическая сверка банковских платежей, BI-дашборды и прогноз продлений.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 txBox="1">
            <a:spLocks/>
          </p:cNvSpPr>
          <p:nvPr/>
        </p:nvSpPr>
        <p:spPr>
          <a:xfrm>
            <a:off x="393700" y="1150259"/>
            <a:ext cx="6308042" cy="139700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 b="0">
                <a:solidFill>
                  <a:srgbClr val="3A4956"/>
                </a:solidFill>
                <a:latin typeface="Aptos"/>
              </a:rPr>
              <a:t>Техническая зрелость</a:t>
            </a:r>
          </a:p>
          <a:p>
            <a:r>
              <a:rPr sz="1400" b="0">
                <a:solidFill>
                  <a:srgbClr val="3A4956"/>
                </a:solidFill>
                <a:latin typeface="Aptos"/>
              </a:rPr>
              <a:t>PostgreSQL hardening, backup/restore drill, мониторинг очередей и delivery logs.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 sz="900" b="0">
                <a:solidFill>
                  <a:srgbClr val="3A4956"/>
                </a:solidFill>
                <a:latin typeface="Aptos"/>
              </a:rPr>
              <a:t>SwimCRM | client deck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ctr"/>
            <a:r>
              <a:rPr sz="1600" b="1">
                <a:solidFill>
                  <a:srgbClr val="0C6F80"/>
                </a:solidFill>
                <a:latin typeface="Aptos"/>
              </a:rPr>
              <a:t>9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sz="3000" b="1">
                <a:solidFill>
                  <a:srgbClr val="1A2A36"/>
                </a:solidFill>
                <a:latin typeface="Aptos"/>
              </a:rPr>
              <a:t>Бизнес-ценность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sz="1500" b="0">
                <a:solidFill>
                  <a:srgbClr val="3A4956"/>
                </a:solidFill>
                <a:latin typeface="Aptos"/>
              </a:rPr>
              <a:t>CRM снижает зависимость от ручных таблиц и памяти сотрудников. Это особенно важно, когда школа растет и появляется много групп, тренеров и оплат.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rmAutofit/>
          </a:bodyPr>
          <a:lstStyle/>
          <a:p>
            <a:pPr algn="ctr"/>
            <a:r>
              <a:rPr sz="2700" b="1">
                <a:solidFill>
                  <a:srgbClr val="0C6F80"/>
                </a:solidFill>
                <a:latin typeface="Aptos"/>
              </a:rPr>
              <a:t>Время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rmAutofit/>
          </a:bodyPr>
          <a:lstStyle/>
          <a:p>
            <a:r>
              <a:rPr sz="1400" b="0">
                <a:solidFill>
                  <a:srgbClr val="3A4956"/>
                </a:solidFill>
                <a:latin typeface="Aptos"/>
              </a:rPr>
              <a:t>меньше ручной сверки оплат, посещаемости и остатков занятий.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 txBox="1">
            <a:spLocks/>
          </p:cNvSpPr>
          <p:nvPr/>
        </p:nvSpPr>
        <p:spPr>
          <a:xfrm>
            <a:off x="393700" y="1150259"/>
            <a:ext cx="6308042" cy="139700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700" b="1">
                <a:solidFill>
                  <a:srgbClr val="0C6F80"/>
                </a:solidFill>
                <a:latin typeface="Aptos"/>
              </a:rPr>
              <a:t>Деньги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r>
              <a:rPr sz="900" b="0">
                <a:solidFill>
                  <a:srgbClr val="3A4956"/>
                </a:solidFill>
                <a:latin typeface="Aptos"/>
              </a:rPr>
              <a:t>SwimCRM | client deck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ctr"/>
            <a:r>
              <a:rPr sz="1600" b="1">
                <a:solidFill>
                  <a:srgbClr val="0C6F80"/>
                </a:solidFill>
                <a:latin typeface="Aptos"/>
              </a:rPr>
              <a:t>10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sz="3200" b="1">
                <a:solidFill>
                  <a:srgbClr val="1A2A36"/>
                </a:solidFill>
                <a:latin typeface="Aptos"/>
              </a:rPr>
              <a:t>Итог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sz="1700" b="0">
                <a:solidFill>
                  <a:srgbClr val="3A4956"/>
                </a:solidFill>
                <a:latin typeface="Aptos"/>
              </a:rPr>
              <a:t>SwimCRM уже является практичной основой для операционного управления школой плавания: клиенты, расписание, посещаемость, абонементы, платежи, отчеты и коммуникации собраны вокруг единой логики.</a:t>
            </a:r>
          </a:p>
          <a:p/>
          <a:p>
            <a:r>
              <a:rPr sz="1700" b="0">
                <a:solidFill>
                  <a:srgbClr val="3A4956"/>
                </a:solidFill>
                <a:latin typeface="Aptos"/>
              </a:rPr>
              <a:t>Главная ценность — не просто список функций, а управляемость бизнеса: меньше ошибок, быстрее контроль оплат, прозрачная история и готовая база для масштабирования.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rmAutofit/>
          </a:bodyPr>
          <a:lstStyle/>
          <a:p>
            <a:r>
              <a:rPr sz="1200" b="0">
                <a:solidFill>
                  <a:srgbClr val="0C6F80"/>
                </a:solidFill>
                <a:latin typeface="Aptos"/>
              </a:rPr>
              <a:t>Recommended next step: production pilot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rmAutofit/>
          </a:bodyPr>
          <a:lstStyle/>
          <a:p/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 txBox="1">
            <a:spLocks/>
          </p:cNvSpPr>
          <p:nvPr/>
        </p:nvSpPr>
        <p:spPr>
          <a:xfrm>
            <a:off x="393700" y="1150259"/>
            <a:ext cx="6308042" cy="139700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1877</TotalTime>
  <Words>521</Words>
  <Application>Microsoft Macintosh PowerPoint</Application>
  <PresentationFormat>Widescreen</PresentationFormat>
  <Paragraphs>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Lora</vt:lpstr>
      <vt:lpstr>OpenAI Sans</vt:lpstr>
      <vt:lpstr>Aptos</vt:lpstr>
      <vt:lpstr>Roboto</vt:lpstr>
      <vt:lpstr>Helvetica Neue</vt:lpstr>
      <vt:lpstr>Default Codex Theme</vt:lpstr>
      <vt:lpstr>Market Industry Trends Report</vt:lpstr>
      <vt:lpstr>The market is entering a  new phase of change</vt:lpstr>
      <vt:lpstr>Four signals define the market today</vt:lpstr>
      <vt:lpstr>Half text, half image slide</vt:lpstr>
      <vt:lpstr>One column layout with checklist </vt:lpstr>
      <vt:lpstr>Three column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