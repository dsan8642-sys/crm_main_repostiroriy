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" y="502920"/>
            <a:ext cx="5943600" cy="45720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1300" b="1">
                <a:solidFill>
                  <a:srgbClr val="005B6A"/>
                </a:solidFill>
                <a:latin typeface="Aptos"/>
              </a:rPr>
              <a:t>Клиентская презентация | июль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43000"/>
            <a:ext cx="6126480" cy="105156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4200" b="1">
                <a:solidFill>
                  <a:srgbClr val="192634"/>
                </a:solidFill>
                <a:latin typeface="Aptos"/>
              </a:rPr>
              <a:t>SwimCRM для школы плавания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5029200" cy="100584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1800" b="0">
                <a:solidFill>
                  <a:srgbClr val="495461"/>
                </a:solidFill>
                <a:latin typeface="Aptos"/>
              </a:rPr>
              <a:t>Операционная CRM, которая связывает расписание, абонементы, оплаты и коммуникацию с родителями.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548640" cy="32004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1200" b="1">
                <a:solidFill>
                  <a:srgbClr val="008192"/>
                </a:solidFill>
                <a:latin typeface="Aptos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201168"/>
            <a:ext cx="8412480" cy="50292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2800" b="1">
                <a:solidFill>
                  <a:srgbClr val="192634"/>
                </a:solidFill>
                <a:latin typeface="Aptos"/>
              </a:rPr>
              <a:t>О проекте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22960"/>
            <a:ext cx="10927080" cy="22860"/>
          </a:xfrm>
          <a:prstGeom prst="rect">
            <a:avLst/>
          </a:prstGeom>
          <a:solidFill>
            <a:srgbClr val="008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b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143000"/>
            <a:ext cx="5349240" cy="301752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731520" y="1335024"/>
            <a:ext cx="100584" cy="100584"/>
          </a:xfrm>
          <a:prstGeom prst="ellipse">
            <a:avLst/>
          </a:prstGeom>
          <a:solidFill>
            <a:srgbClr val="008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234440"/>
            <a:ext cx="4754880" cy="53035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1400" b="0">
                <a:solidFill>
                  <a:srgbClr val="495461"/>
                </a:solidFill>
                <a:latin typeface="Aptos"/>
              </a:rPr>
              <a:t>SwimCRM — веб-система для частной школы плавания.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1956816"/>
            <a:ext cx="100584" cy="100584"/>
          </a:xfrm>
          <a:prstGeom prst="ellipse">
            <a:avLst/>
          </a:prstGeom>
          <a:solidFill>
            <a:srgbClr val="008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856232"/>
            <a:ext cx="4754880" cy="53035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1400" b="0">
                <a:solidFill>
                  <a:srgbClr val="495461"/>
                </a:solidFill>
                <a:latin typeface="Aptos"/>
              </a:rPr>
              <a:t>Она помогает администрации вести клиентов, группы, тренеров, расписание, посещаемость, абонементы и оплаты в одном месте.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2578608"/>
            <a:ext cx="100584" cy="100584"/>
          </a:xfrm>
          <a:prstGeom prst="ellipse">
            <a:avLst/>
          </a:prstGeom>
          <a:solidFill>
            <a:srgbClr val="008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478024"/>
            <a:ext cx="4754880" cy="53035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1400" b="0">
                <a:solidFill>
                  <a:srgbClr val="495461"/>
                </a:solidFill>
                <a:latin typeface="Aptos"/>
              </a:rPr>
              <a:t>Основные пользователи: администратор, тренер и родитель/клиент.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336792"/>
            <a:ext cx="2926080" cy="22860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800" b="0">
                <a:solidFill>
                  <a:srgbClr val="6F7E8C"/>
                </a:solidFill>
                <a:latin typeface="Aptos"/>
              </a:rPr>
              <a:t>SwimCRM | client presentation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548640" cy="32004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1200" b="1">
                <a:solidFill>
                  <a:srgbClr val="008192"/>
                </a:solidFill>
                <a:latin typeface="Aptos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201168"/>
            <a:ext cx="8412480" cy="50292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2800" b="1">
                <a:solidFill>
                  <a:srgbClr val="192634"/>
                </a:solidFill>
                <a:latin typeface="Aptos"/>
              </a:rPr>
              <a:t>Ключевые возможности сейчас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22960"/>
            <a:ext cx="10927080" cy="22860"/>
          </a:xfrm>
          <a:prstGeom prst="rect">
            <a:avLst/>
          </a:prstGeom>
          <a:solidFill>
            <a:srgbClr val="008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pabilit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143000"/>
            <a:ext cx="5349240" cy="30175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85800" y="1234440"/>
            <a:ext cx="2395728" cy="1078992"/>
          </a:xfrm>
          <a:prstGeom prst="roundRect">
            <a:avLst/>
          </a:prstGeom>
          <a:solidFill>
            <a:srgbClr val="E2F7FA"/>
          </a:solidFill>
          <a:ln>
            <a:solidFill>
              <a:srgbClr val="D8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399032"/>
            <a:ext cx="1993392" cy="32004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1500" b="1">
                <a:solidFill>
                  <a:srgbClr val="192634"/>
                </a:solidFill>
                <a:latin typeface="Aptos"/>
              </a:rPr>
              <a:t>Основной функционал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1801368"/>
            <a:ext cx="1993392" cy="39319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1100" b="0">
                <a:solidFill>
                  <a:srgbClr val="495461"/>
                </a:solidFill>
                <a:latin typeface="Aptos"/>
              </a:rPr>
              <a:t>Клиенты и семьи, группы, тренеры, расписание, посещаемость, абонементы, начисления и платежи.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1234440"/>
            <a:ext cx="2395728" cy="1078992"/>
          </a:xfrm>
          <a:prstGeom prst="roundRect">
            <a:avLst/>
          </a:prstGeom>
          <a:solidFill>
            <a:srgbClr val="E8F1FF"/>
          </a:solidFill>
          <a:ln>
            <a:solidFill>
              <a:srgbClr val="D8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84448" y="1399032"/>
            <a:ext cx="1993392" cy="32004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1500" b="1">
                <a:solidFill>
                  <a:srgbClr val="192634"/>
                </a:solidFill>
                <a:latin typeface="Aptos"/>
              </a:rPr>
              <a:t>Автоматизация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84448" y="1801368"/>
            <a:ext cx="1993392" cy="39319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1100" b="0">
                <a:solidFill>
                  <a:srgbClr val="495461"/>
                </a:solidFill>
                <a:latin typeface="Aptos"/>
              </a:rPr>
              <a:t>Списание занятий по статусам, контроль конфликтов тренера, отчеты, импорт/экспорт, планировщик уведомлений.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560320"/>
            <a:ext cx="2395728" cy="1078992"/>
          </a:xfrm>
          <a:prstGeom prst="roundRect">
            <a:avLst/>
          </a:prstGeom>
          <a:solidFill>
            <a:srgbClr val="E7F8EF"/>
          </a:solidFill>
          <a:ln>
            <a:solidFill>
              <a:srgbClr val="D8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2724912"/>
            <a:ext cx="1993392" cy="32004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1500" b="1">
                <a:solidFill>
                  <a:srgbClr val="192634"/>
                </a:solidFill>
                <a:latin typeface="Aptos"/>
              </a:rPr>
              <a:t>Интерфейс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3127248"/>
            <a:ext cx="1993392" cy="39319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1100" b="0">
                <a:solidFill>
                  <a:srgbClr val="495461"/>
                </a:solidFill>
                <a:latin typeface="Aptos"/>
              </a:rPr>
              <a:t>React SPA для админа, клиентский и тренерский контуры, адаптивная верстка и единая дизайн-система.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336792"/>
            <a:ext cx="2926080" cy="22860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800" b="0">
                <a:solidFill>
                  <a:srgbClr val="6F7E8C"/>
                </a:solidFill>
                <a:latin typeface="Aptos"/>
              </a:rPr>
              <a:t>SwimCRM | client presentation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548640" cy="32004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1200" b="1">
                <a:solidFill>
                  <a:srgbClr val="008192"/>
                </a:solidFill>
                <a:latin typeface="Aptos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201168"/>
            <a:ext cx="8412480" cy="50292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2800" b="1">
                <a:solidFill>
                  <a:srgbClr val="192634"/>
                </a:solidFill>
                <a:latin typeface="Aptos"/>
              </a:rPr>
              <a:t>Как это работает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22960"/>
            <a:ext cx="10927080" cy="22860"/>
          </a:xfrm>
          <a:prstGeom prst="rect">
            <a:avLst/>
          </a:prstGeom>
          <a:solidFill>
            <a:srgbClr val="008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143000"/>
            <a:ext cx="5349240" cy="301752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731520" y="1335024"/>
            <a:ext cx="100584" cy="100584"/>
          </a:xfrm>
          <a:prstGeom prst="ellipse">
            <a:avLst/>
          </a:prstGeom>
          <a:solidFill>
            <a:srgbClr val="008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234440"/>
            <a:ext cx="4754880" cy="53035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1400" b="0">
                <a:solidFill>
                  <a:srgbClr val="495461"/>
                </a:solidFill>
                <a:latin typeface="Aptos"/>
              </a:rPr>
              <a:t>Администратор создает клиента или семейный аккаунт.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1956816"/>
            <a:ext cx="100584" cy="100584"/>
          </a:xfrm>
          <a:prstGeom prst="ellipse">
            <a:avLst/>
          </a:prstGeom>
          <a:solidFill>
            <a:srgbClr val="008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856232"/>
            <a:ext cx="4754880" cy="53035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1400" b="0">
                <a:solidFill>
                  <a:srgbClr val="495461"/>
                </a:solidFill>
                <a:latin typeface="Aptos"/>
              </a:rPr>
              <a:t>Назначает участника в группу и выпускает абонемент.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2578608"/>
            <a:ext cx="100584" cy="100584"/>
          </a:xfrm>
          <a:prstGeom prst="ellipse">
            <a:avLst/>
          </a:prstGeom>
          <a:solidFill>
            <a:srgbClr val="008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478024"/>
            <a:ext cx="4754880" cy="53035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1400" b="0">
                <a:solidFill>
                  <a:srgbClr val="495461"/>
                </a:solidFill>
                <a:latin typeface="Aptos"/>
              </a:rPr>
              <a:t>Система создает начисление и фиксирует оплату или чек.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3200400"/>
            <a:ext cx="100584" cy="100584"/>
          </a:xfrm>
          <a:prstGeom prst="ellipse">
            <a:avLst/>
          </a:prstGeom>
          <a:solidFill>
            <a:srgbClr val="008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099816"/>
            <a:ext cx="4754880" cy="53035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1400" b="0">
                <a:solidFill>
                  <a:srgbClr val="495461"/>
                </a:solidFill>
                <a:latin typeface="Aptos"/>
              </a:rPr>
              <a:t>Тренер отмечает посещаемость после занятия.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3822192"/>
            <a:ext cx="100584" cy="100584"/>
          </a:xfrm>
          <a:prstGeom prst="ellipse">
            <a:avLst/>
          </a:prstGeom>
          <a:solidFill>
            <a:srgbClr val="008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721608"/>
            <a:ext cx="4754880" cy="53035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1400" b="0">
                <a:solidFill>
                  <a:srgbClr val="495461"/>
                </a:solidFill>
                <a:latin typeface="Aptos"/>
              </a:rPr>
              <a:t>CRM обновляет остаток занятий, задолженности и напоминания.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336792"/>
            <a:ext cx="2926080" cy="22860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800" b="0">
                <a:solidFill>
                  <a:srgbClr val="6F7E8C"/>
                </a:solidFill>
                <a:latin typeface="Aptos"/>
              </a:rPr>
              <a:t>SwimCRM | client presentation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548640" cy="32004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1200" b="1">
                <a:solidFill>
                  <a:srgbClr val="008192"/>
                </a:solidFill>
                <a:latin typeface="Aptos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201168"/>
            <a:ext cx="8412480" cy="50292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2800" b="1">
                <a:solidFill>
                  <a:srgbClr val="192634"/>
                </a:solidFill>
                <a:latin typeface="Aptos"/>
              </a:rPr>
              <a:t>Примеры использования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22960"/>
            <a:ext cx="10927080" cy="22860"/>
          </a:xfrm>
          <a:prstGeom prst="rect">
            <a:avLst/>
          </a:prstGeom>
          <a:solidFill>
            <a:srgbClr val="008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143000"/>
            <a:ext cx="5349240" cy="30175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85800" y="1234440"/>
            <a:ext cx="2395728" cy="1078992"/>
          </a:xfrm>
          <a:prstGeom prst="roundRect">
            <a:avLst/>
          </a:prstGeom>
          <a:solidFill>
            <a:srgbClr val="E2F7FA"/>
          </a:solidFill>
          <a:ln>
            <a:solidFill>
              <a:srgbClr val="D8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399032"/>
            <a:ext cx="1993392" cy="32004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1500" b="1">
                <a:solidFill>
                  <a:srgbClr val="192634"/>
                </a:solidFill>
                <a:latin typeface="Aptos"/>
              </a:rPr>
              <a:t>Продажа абонемента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1801368"/>
            <a:ext cx="1993392" cy="39319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1100" b="0">
                <a:solidFill>
                  <a:srgbClr val="495461"/>
                </a:solidFill>
                <a:latin typeface="Aptos"/>
              </a:rPr>
              <a:t>Админ создает абонемент, начисление и платеж. Клиент сразу видит актуальный статус.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1234440"/>
            <a:ext cx="2395728" cy="1078992"/>
          </a:xfrm>
          <a:prstGeom prst="roundRect">
            <a:avLst/>
          </a:prstGeom>
          <a:solidFill>
            <a:srgbClr val="E8F1FF"/>
          </a:solidFill>
          <a:ln>
            <a:solidFill>
              <a:srgbClr val="D8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84448" y="1399032"/>
            <a:ext cx="1993392" cy="32004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1500" b="1">
                <a:solidFill>
                  <a:srgbClr val="192634"/>
                </a:solidFill>
                <a:latin typeface="Aptos"/>
              </a:rPr>
              <a:t>Контроль посещаемости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84448" y="1801368"/>
            <a:ext cx="1993392" cy="39319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1100" b="0">
                <a:solidFill>
                  <a:srgbClr val="495461"/>
                </a:solidFill>
                <a:latin typeface="Aptos"/>
              </a:rPr>
              <a:t>Тренер отмечает занятие, CRM сама списывает или не списывает занятие по бизнес-правилам.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560320"/>
            <a:ext cx="2395728" cy="1078992"/>
          </a:xfrm>
          <a:prstGeom prst="roundRect">
            <a:avLst/>
          </a:prstGeom>
          <a:solidFill>
            <a:srgbClr val="E7F8EF"/>
          </a:solidFill>
          <a:ln>
            <a:solidFill>
              <a:srgbClr val="D8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2724912"/>
            <a:ext cx="1993392" cy="32004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1500" b="1">
                <a:solidFill>
                  <a:srgbClr val="192634"/>
                </a:solidFill>
                <a:latin typeface="Aptos"/>
              </a:rPr>
              <a:t>Работа с долгами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3127248"/>
            <a:ext cx="1993392" cy="39319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1100" b="0">
                <a:solidFill>
                  <a:srgbClr val="495461"/>
                </a:solidFill>
                <a:latin typeface="Aptos"/>
              </a:rPr>
              <a:t>Админ видит просрочки, клиентов с малым остатком занятий и может запускать напоминания.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83280" y="2560320"/>
            <a:ext cx="2395728" cy="1078992"/>
          </a:xfrm>
          <a:prstGeom prst="roundRect">
            <a:avLst/>
          </a:prstGeom>
          <a:solidFill>
            <a:srgbClr val="FFF5DB"/>
          </a:solidFill>
          <a:ln>
            <a:solidFill>
              <a:srgbClr val="D8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84448" y="2724912"/>
            <a:ext cx="1993392" cy="32004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1500" b="1">
                <a:solidFill>
                  <a:srgbClr val="192634"/>
                </a:solidFill>
                <a:latin typeface="Aptos"/>
              </a:rPr>
              <a:t>Отчетность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448" y="3127248"/>
            <a:ext cx="1993392" cy="39319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1100" b="0">
                <a:solidFill>
                  <a:srgbClr val="495461"/>
                </a:solidFill>
                <a:latin typeface="Aptos"/>
              </a:rPr>
              <a:t>Руководитель получает доходы, посещаемость и неоплаченные счета без ручной сборки таблиц.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36792"/>
            <a:ext cx="2926080" cy="22860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800" b="0">
                <a:solidFill>
                  <a:srgbClr val="6F7E8C"/>
                </a:solidFill>
                <a:latin typeface="Aptos"/>
              </a:rPr>
              <a:t>SwimCRM | client presentation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548640" cy="32004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1200" b="1">
                <a:solidFill>
                  <a:srgbClr val="008192"/>
                </a:solidFill>
                <a:latin typeface="Aptos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201168"/>
            <a:ext cx="8412480" cy="50292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2800" b="1">
                <a:solidFill>
                  <a:srgbClr val="192634"/>
                </a:solidFill>
                <a:latin typeface="Aptos"/>
              </a:rPr>
              <a:t>Ограничения — честно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22960"/>
            <a:ext cx="10927080" cy="22860"/>
          </a:xfrm>
          <a:prstGeom prst="rect">
            <a:avLst/>
          </a:prstGeom>
          <a:solidFill>
            <a:srgbClr val="008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im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143000"/>
            <a:ext cx="5349240" cy="301752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731520" y="1335024"/>
            <a:ext cx="100584" cy="100584"/>
          </a:xfrm>
          <a:prstGeom prst="ellipse">
            <a:avLst/>
          </a:prstGeom>
          <a:solidFill>
            <a:srgbClr val="008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234440"/>
            <a:ext cx="4754880" cy="53035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1400" b="0">
                <a:solidFill>
                  <a:srgbClr val="495461"/>
                </a:solidFill>
                <a:latin typeface="Aptos"/>
              </a:rPr>
              <a:t>Онлайн-оплата пока не подключена: платежи вводятся администратором или подтверждаются по загруженному чеку.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1956816"/>
            <a:ext cx="100584" cy="100584"/>
          </a:xfrm>
          <a:prstGeom prst="ellipse">
            <a:avLst/>
          </a:prstGeom>
          <a:solidFill>
            <a:srgbClr val="008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856232"/>
            <a:ext cx="4754880" cy="53035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1400" b="0">
                <a:solidFill>
                  <a:srgbClr val="495461"/>
                </a:solidFill>
                <a:latin typeface="Aptos"/>
              </a:rPr>
              <a:t>Telegram и SMS работают через provider adapters; для боевой доставки нужны реальные провайдерные ключи и контрольные отправки.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2578608"/>
            <a:ext cx="100584" cy="100584"/>
          </a:xfrm>
          <a:prstGeom prst="ellipse">
            <a:avLst/>
          </a:prstGeom>
          <a:solidFill>
            <a:srgbClr val="008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478024"/>
            <a:ext cx="4754880" cy="53035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1400" b="0">
                <a:solidFill>
                  <a:srgbClr val="495461"/>
                </a:solidFill>
                <a:latin typeface="Aptos"/>
              </a:rPr>
              <a:t>Планировщик уведомлений готов как management command и Celery task; в production его нужно включить в Celery beat или cron.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3200400"/>
            <a:ext cx="100584" cy="100584"/>
          </a:xfrm>
          <a:prstGeom prst="ellipse">
            <a:avLst/>
          </a:prstGeom>
          <a:solidFill>
            <a:srgbClr val="008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099816"/>
            <a:ext cx="4754880" cy="53035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1400" b="0">
                <a:solidFill>
                  <a:srgbClr val="495461"/>
                </a:solidFill>
                <a:latin typeface="Aptos"/>
              </a:rPr>
              <a:t>PostgreSQL-релизный контур покрыт тестами, backup/restore проверкой и production env-check.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336792"/>
            <a:ext cx="2926080" cy="22860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800" b="0">
                <a:solidFill>
                  <a:srgbClr val="6F7E8C"/>
                </a:solidFill>
                <a:latin typeface="Aptos"/>
              </a:rPr>
              <a:t>SwimCRM | client presentation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548640" cy="32004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1200" b="1">
                <a:solidFill>
                  <a:srgbClr val="008192"/>
                </a:solidFill>
                <a:latin typeface="Aptos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201168"/>
            <a:ext cx="8412480" cy="50292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2800" b="1">
                <a:solidFill>
                  <a:srgbClr val="192634"/>
                </a:solidFill>
                <a:latin typeface="Aptos"/>
              </a:rPr>
              <a:t>Что можно улучшить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22960"/>
            <a:ext cx="10927080" cy="22860"/>
          </a:xfrm>
          <a:prstGeom prst="rect">
            <a:avLst/>
          </a:prstGeom>
          <a:solidFill>
            <a:srgbClr val="008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prove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143000"/>
            <a:ext cx="5349240" cy="30175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85800" y="1234440"/>
            <a:ext cx="2395728" cy="1078992"/>
          </a:xfrm>
          <a:prstGeom prst="roundRect">
            <a:avLst/>
          </a:prstGeom>
          <a:solidFill>
            <a:srgbClr val="E2F7FA"/>
          </a:solidFill>
          <a:ln>
            <a:solidFill>
              <a:srgbClr val="D8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399032"/>
            <a:ext cx="1993392" cy="32004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1500" b="1">
                <a:solidFill>
                  <a:srgbClr val="192634"/>
                </a:solidFill>
                <a:latin typeface="Aptos"/>
              </a:rPr>
              <a:t>UX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1801368"/>
            <a:ext cx="1993392" cy="39319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1100" b="0">
                <a:solidFill>
                  <a:srgbClr val="495461"/>
                </a:solidFill>
                <a:latin typeface="Aptos"/>
              </a:rPr>
              <a:t>Упростить массовые действия в админке и добавить быстрые фильтры по группам, оплатам и остаткам занятий.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1234440"/>
            <a:ext cx="2395728" cy="1078992"/>
          </a:xfrm>
          <a:prstGeom prst="roundRect">
            <a:avLst/>
          </a:prstGeom>
          <a:solidFill>
            <a:srgbClr val="E8F1FF"/>
          </a:solidFill>
          <a:ln>
            <a:solidFill>
              <a:srgbClr val="D8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84448" y="1399032"/>
            <a:ext cx="1993392" cy="32004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1500" b="1">
                <a:solidFill>
                  <a:srgbClr val="192634"/>
                </a:solidFill>
                <a:latin typeface="Aptos"/>
              </a:rPr>
              <a:t>Функционал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84448" y="1801368"/>
            <a:ext cx="1993392" cy="39319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1100" b="0">
                <a:solidFill>
                  <a:srgbClr val="495461"/>
                </a:solidFill>
                <a:latin typeface="Aptos"/>
              </a:rPr>
              <a:t>Настроить провайдерные аккаунты Telegram/SMS, расширить массовые рассылки и админ-экшены для импортов и отчетов.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560320"/>
            <a:ext cx="2395728" cy="1078992"/>
          </a:xfrm>
          <a:prstGeom prst="roundRect">
            <a:avLst/>
          </a:prstGeom>
          <a:solidFill>
            <a:srgbClr val="E7F8EF"/>
          </a:solidFill>
          <a:ln>
            <a:solidFill>
              <a:srgbClr val="D8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2724912"/>
            <a:ext cx="1993392" cy="32004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1500" b="1">
                <a:solidFill>
                  <a:srgbClr val="192634"/>
                </a:solidFill>
                <a:latin typeface="Aptos"/>
              </a:rPr>
              <a:t>Автоматизация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3127248"/>
            <a:ext cx="1993392" cy="39319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1100" b="0">
                <a:solidFill>
                  <a:srgbClr val="495461"/>
                </a:solidFill>
                <a:latin typeface="Aptos"/>
              </a:rPr>
              <a:t>Включить Celery/Redis в production, регулярные restore drills и мониторинг ошибок уведомлений.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83280" y="2560320"/>
            <a:ext cx="2395728" cy="1078992"/>
          </a:xfrm>
          <a:prstGeom prst="roundRect">
            <a:avLst/>
          </a:prstGeom>
          <a:solidFill>
            <a:srgbClr val="FFF5DB"/>
          </a:solidFill>
          <a:ln>
            <a:solidFill>
              <a:srgbClr val="D8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84448" y="2724912"/>
            <a:ext cx="1993392" cy="32004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1500" b="1">
                <a:solidFill>
                  <a:srgbClr val="192634"/>
                </a:solidFill>
                <a:latin typeface="Aptos"/>
              </a:rPr>
              <a:t>Коммерция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448" y="3127248"/>
            <a:ext cx="1993392" cy="39319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1100" b="0">
                <a:solidFill>
                  <a:srgbClr val="495461"/>
                </a:solidFill>
                <a:latin typeface="Aptos"/>
              </a:rPr>
              <a:t>Добавить онлайн-оплаты и автоматическое сопоставление платежей, когда бизнес будет готов.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36792"/>
            <a:ext cx="2926080" cy="22860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800" b="0">
                <a:solidFill>
                  <a:srgbClr val="6F7E8C"/>
                </a:solidFill>
                <a:latin typeface="Aptos"/>
              </a:rPr>
              <a:t>SwimCRM | client presentation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548640" cy="32004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1200" b="1">
                <a:solidFill>
                  <a:srgbClr val="008192"/>
                </a:solidFill>
                <a:latin typeface="Aptos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201168"/>
            <a:ext cx="8412480" cy="50292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2800" b="1">
                <a:solidFill>
                  <a:srgbClr val="192634"/>
                </a:solidFill>
                <a:latin typeface="Aptos"/>
              </a:rPr>
              <a:t>Roadmap развития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22960"/>
            <a:ext cx="10927080" cy="22860"/>
          </a:xfrm>
          <a:prstGeom prst="rect">
            <a:avLst/>
          </a:prstGeom>
          <a:solidFill>
            <a:srgbClr val="008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143000"/>
            <a:ext cx="5349240" cy="30175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85800" y="1234440"/>
            <a:ext cx="2395728" cy="1078992"/>
          </a:xfrm>
          <a:prstGeom prst="roundRect">
            <a:avLst/>
          </a:prstGeom>
          <a:solidFill>
            <a:srgbClr val="E2F7FA"/>
          </a:solidFill>
          <a:ln>
            <a:solidFill>
              <a:srgbClr val="D8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399032"/>
            <a:ext cx="1993392" cy="32004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1500" b="1">
                <a:solidFill>
                  <a:srgbClr val="192634"/>
                </a:solidFill>
                <a:latin typeface="Aptos"/>
              </a:rPr>
              <a:t>Quick wins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1801368"/>
            <a:ext cx="1993392" cy="39319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1100" b="0">
                <a:solidFill>
                  <a:srgbClr val="495461"/>
                </a:solidFill>
                <a:latin typeface="Aptos"/>
              </a:rPr>
              <a:t>Production scheduler, мониторинг фоновых задач, админские действия для отчетов.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1234440"/>
            <a:ext cx="2395728" cy="1078992"/>
          </a:xfrm>
          <a:prstGeom prst="roundRect">
            <a:avLst/>
          </a:prstGeom>
          <a:solidFill>
            <a:srgbClr val="E8F1FF"/>
          </a:solidFill>
          <a:ln>
            <a:solidFill>
              <a:srgbClr val="D8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84448" y="1399032"/>
            <a:ext cx="1993392" cy="32004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1500" b="1">
                <a:solidFill>
                  <a:srgbClr val="192634"/>
                </a:solidFill>
                <a:latin typeface="Aptos"/>
              </a:rPr>
              <a:t>Среднесрочно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84448" y="1801368"/>
            <a:ext cx="1993392" cy="39319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1100" b="0">
                <a:solidFill>
                  <a:srgbClr val="495461"/>
                </a:solidFill>
                <a:latin typeface="Aptos"/>
              </a:rPr>
              <a:t>Провайдерные аккаунты Telegram/SMS, массовые рассылки, расширенные UX-сценарии для администратора и тренера.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560320"/>
            <a:ext cx="2395728" cy="1078992"/>
          </a:xfrm>
          <a:prstGeom prst="roundRect">
            <a:avLst/>
          </a:prstGeom>
          <a:solidFill>
            <a:srgbClr val="E7F8EF"/>
          </a:solidFill>
          <a:ln>
            <a:solidFill>
              <a:srgbClr val="D8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2724912"/>
            <a:ext cx="1993392" cy="32004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1500" b="1">
                <a:solidFill>
                  <a:srgbClr val="192634"/>
                </a:solidFill>
                <a:latin typeface="Aptos"/>
              </a:rPr>
              <a:t>Продвинутые функции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3127248"/>
            <a:ext cx="1993392" cy="39319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1100" b="0">
                <a:solidFill>
                  <a:srgbClr val="495461"/>
                </a:solidFill>
                <a:latin typeface="Aptos"/>
              </a:rPr>
              <a:t>Онлайн-оплата, сверка банковских платежей, BI-дашборды и прогноз продлений.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336792"/>
            <a:ext cx="2926080" cy="22860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800" b="0">
                <a:solidFill>
                  <a:srgbClr val="6F7E8C"/>
                </a:solidFill>
                <a:latin typeface="Aptos"/>
              </a:rPr>
              <a:t>SwimCRM | client presentation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548640" cy="32004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1200" b="1">
                <a:solidFill>
                  <a:srgbClr val="008192"/>
                </a:solidFill>
                <a:latin typeface="Aptos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201168"/>
            <a:ext cx="8412480" cy="50292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2800" b="1">
                <a:solidFill>
                  <a:srgbClr val="192634"/>
                </a:solidFill>
                <a:latin typeface="Aptos"/>
              </a:rPr>
              <a:t>Бизнес-ценность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22960"/>
            <a:ext cx="10927080" cy="22860"/>
          </a:xfrm>
          <a:prstGeom prst="rect">
            <a:avLst/>
          </a:prstGeom>
          <a:solidFill>
            <a:srgbClr val="008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a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143000"/>
            <a:ext cx="5349240" cy="301752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731520" y="1335024"/>
            <a:ext cx="100584" cy="100584"/>
          </a:xfrm>
          <a:prstGeom prst="ellipse">
            <a:avLst/>
          </a:prstGeom>
          <a:solidFill>
            <a:srgbClr val="008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234440"/>
            <a:ext cx="4754880" cy="53035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1400" b="0">
                <a:solidFill>
                  <a:srgbClr val="495461"/>
                </a:solidFill>
                <a:latin typeface="Aptos"/>
              </a:rPr>
              <a:t>Меньше ручной сверки оплат, посещаемости и остатков занятий.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1956816"/>
            <a:ext cx="100584" cy="100584"/>
          </a:xfrm>
          <a:prstGeom prst="ellipse">
            <a:avLst/>
          </a:prstGeom>
          <a:solidFill>
            <a:srgbClr val="008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856232"/>
            <a:ext cx="4754880" cy="53035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1400" b="0">
                <a:solidFill>
                  <a:srgbClr val="495461"/>
                </a:solidFill>
                <a:latin typeface="Aptos"/>
              </a:rPr>
              <a:t>Быстрее видно долги, окончания абонементов и клиентов для продления.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2578608"/>
            <a:ext cx="100584" cy="100584"/>
          </a:xfrm>
          <a:prstGeom prst="ellipse">
            <a:avLst/>
          </a:prstGeom>
          <a:solidFill>
            <a:srgbClr val="008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478024"/>
            <a:ext cx="4754880" cy="53035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1400" b="0">
                <a:solidFill>
                  <a:srgbClr val="495461"/>
                </a:solidFill>
                <a:latin typeface="Aptos"/>
              </a:rPr>
              <a:t>История действий, RODO-согласия, отчеты и прозрачные правила списания повышают управляемость бизнеса.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336792"/>
            <a:ext cx="2926080" cy="22860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800" b="0">
                <a:solidFill>
                  <a:srgbClr val="6F7E8C"/>
                </a:solidFill>
                <a:latin typeface="Aptos"/>
              </a:rPr>
              <a:t>SwimCRM | client presentation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548640" cy="32004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1200" b="1">
                <a:solidFill>
                  <a:srgbClr val="008192"/>
                </a:solidFill>
                <a:latin typeface="Aptos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201168"/>
            <a:ext cx="8412480" cy="50292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2800" b="1">
                <a:solidFill>
                  <a:srgbClr val="192634"/>
                </a:solidFill>
                <a:latin typeface="Aptos"/>
              </a:rPr>
              <a:t>Итог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22960"/>
            <a:ext cx="10927080" cy="22860"/>
          </a:xfrm>
          <a:prstGeom prst="rect">
            <a:avLst/>
          </a:prstGeom>
          <a:solidFill>
            <a:srgbClr val="008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143000"/>
            <a:ext cx="5349240" cy="301752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731520" y="1335024"/>
            <a:ext cx="100584" cy="100584"/>
          </a:xfrm>
          <a:prstGeom prst="ellipse">
            <a:avLst/>
          </a:prstGeom>
          <a:solidFill>
            <a:srgbClr val="008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234440"/>
            <a:ext cx="4754880" cy="53035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1400" b="0">
                <a:solidFill>
                  <a:srgbClr val="495461"/>
                </a:solidFill>
                <a:latin typeface="Aptos"/>
              </a:rPr>
              <a:t>SwimCRM уже является практичной основой для операционного управления школой плавания.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1956816"/>
            <a:ext cx="100584" cy="100584"/>
          </a:xfrm>
          <a:prstGeom prst="ellipse">
            <a:avLst/>
          </a:prstGeom>
          <a:solidFill>
            <a:srgbClr val="008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856232"/>
            <a:ext cx="4754880" cy="53035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1400" b="0">
                <a:solidFill>
                  <a:srgbClr val="495461"/>
                </a:solidFill>
                <a:latin typeface="Aptos"/>
              </a:rPr>
              <a:t>Клиенты, расписание, посещаемость, абонементы, платежи, отчеты и коммуникации собраны вокруг единой логики.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2578608"/>
            <a:ext cx="100584" cy="100584"/>
          </a:xfrm>
          <a:prstGeom prst="ellipse">
            <a:avLst/>
          </a:prstGeom>
          <a:solidFill>
            <a:srgbClr val="008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478024"/>
            <a:ext cx="4754880" cy="53035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r>
              <a:rPr sz="1400" b="0">
                <a:solidFill>
                  <a:srgbClr val="495461"/>
                </a:solidFill>
                <a:latin typeface="Aptos"/>
              </a:rPr>
              <a:t>Главная ценность — меньше ошибок, быстрее контроль оплат, прозрачная история и готовая база для масштабирования.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336792"/>
            <a:ext cx="2926080" cy="22860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800" b="0">
                <a:solidFill>
                  <a:srgbClr val="6F7E8C"/>
                </a:solidFill>
                <a:latin typeface="Aptos"/>
              </a:rPr>
              <a:t>SwimCRM | client presentation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